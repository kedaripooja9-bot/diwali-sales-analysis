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777240"/>
            <a:ext cx="80467" cy="80467"/>
          </a:xfrm>
          <a:prstGeom prst="ellipse">
            <a:avLst/>
          </a:prstGeom>
          <a:solidFill>
            <a:srgbClr val="C9A227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69494" cy="69494"/>
          </a:xfrm>
          <a:prstGeom prst="ellipse">
            <a:avLst/>
          </a:prstGeom>
          <a:solidFill>
            <a:srgbClr val="C9A227">
              <a:alpha val="7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685800"/>
            <a:ext cx="58522" cy="58522"/>
          </a:xfrm>
          <a:prstGeom prst="ellipse">
            <a:avLst/>
          </a:prstGeom>
          <a:solidFill>
            <a:srgbClr val="C9A227">
              <a:alpha val="6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640080"/>
            <a:ext cx="47549" cy="47549"/>
          </a:xfrm>
          <a:prstGeom prst="ellipse">
            <a:avLst/>
          </a:prstGeom>
          <a:solidFill>
            <a:srgbClr val="C9A227">
              <a:alpha val="5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5394960"/>
            <a:ext cx="1463040" cy="1463040"/>
          </a:xfrm>
          <a:prstGeom prst="ellipse">
            <a:avLst/>
          </a:prstGeom>
          <a:solidFill>
            <a:srgbClr val="5C1A32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0" y="6035040"/>
            <a:ext cx="822960" cy="822960"/>
          </a:xfrm>
          <a:prstGeom prst="ellipse">
            <a:avLst/>
          </a:prstGeom>
          <a:solidFill>
            <a:srgbClr val="C9A227">
              <a:alpha val="4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DIWALI SALES ANALYSIS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of Festive-Season Customer Purchases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Matplotlib  ·  Seaborn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468880"/>
            <a:ext cx="10972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1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BF6EC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festive-season sales data to uncover who buys, what they buy, and where — turning raw transaction records into actionable marketing insight.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BF6EC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5C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11,251 transactions  ·  13 features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Marital Status, State, Zone, Occupation, Product Category, Orders, Amount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5C1A3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8280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empty Status &amp; unnamed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10712" y="4343400"/>
            <a:ext cx="384048" cy="384048"/>
          </a:xfrm>
          <a:prstGeom prst="ellipse">
            <a:avLst/>
          </a:prstGeom>
          <a:solidFill>
            <a:srgbClr val="5C1A32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0712" y="48280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10712" y="5120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12 rows with missing Amount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2784" y="4343400"/>
            <a:ext cx="384048" cy="384048"/>
          </a:xfrm>
          <a:prstGeom prst="ellipse">
            <a:avLst/>
          </a:prstGeom>
          <a:solidFill>
            <a:srgbClr val="5C1A32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2784" y="48280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72784" y="5120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Amount to integer for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34856" y="4343400"/>
            <a:ext cx="384048" cy="384048"/>
          </a:xfrm>
          <a:prstGeom prst="ellipse">
            <a:avLst/>
          </a:prstGeom>
          <a:solidFill>
            <a:srgbClr val="5C1A32"/>
          </a:solidFill>
          <a:ln/>
        </p:spPr>
      </p:sp>
      <p:sp>
        <p:nvSpPr>
          <p:cNvPr id="23" name="Text 21"/>
          <p:cNvSpPr/>
          <p:nvPr/>
        </p:nvSpPr>
        <p:spPr>
          <a:xfrm>
            <a:off x="9134856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34856" y="48280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34856" y="5120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on Age, Orders, Amount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oundRect">
            <a:avLst/>
          </a:prstGeom>
          <a:solidFill>
            <a:srgbClr val="5C1A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Gender-Wise Sales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spends more this Diwali?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092440" cy="5074920"/>
          </a:xfrm>
          <a:prstGeom prst="roundRect">
            <a:avLst>
              <a:gd name="adj" fmla="val 1081"/>
            </a:avLst>
          </a:prstGeom>
          <a:solidFill>
            <a:srgbClr val="FBF6EC"/>
          </a:solidFill>
          <a:ln/>
        </p:spPr>
      </p:sp>
      <p:pic>
        <p:nvPicPr>
          <p:cNvPr id="6" name="Image 0" descr="cell1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832" y="1417320"/>
            <a:ext cx="5949737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417320"/>
            <a:ext cx="3017520" cy="4800600"/>
          </a:xfrm>
          <a:prstGeom prst="roundRect">
            <a:avLst>
              <a:gd name="adj" fmla="val 2424"/>
            </a:avLst>
          </a:prstGeom>
          <a:solidFill>
            <a:srgbClr val="3D112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14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drove a noticeably larger share of total sales value than men, making female shoppers the primary revenue segment for festive promotions.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oundRect">
            <a:avLst/>
          </a:prstGeom>
          <a:solidFill>
            <a:srgbClr val="5C1A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Age Group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power across generations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092440" cy="5074920"/>
          </a:xfrm>
          <a:prstGeom prst="roundRect">
            <a:avLst>
              <a:gd name="adj" fmla="val 1081"/>
            </a:avLst>
          </a:prstGeom>
          <a:solidFill>
            <a:srgbClr val="FBF6EC"/>
          </a:solidFill>
          <a:ln/>
        </p:spPr>
      </p:sp>
      <p:pic>
        <p:nvPicPr>
          <p:cNvPr id="6" name="Image 0" descr="cell2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024" y="1417320"/>
            <a:ext cx="6089352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417320"/>
            <a:ext cx="3017520" cy="4800600"/>
          </a:xfrm>
          <a:prstGeom prst="roundRect">
            <a:avLst>
              <a:gd name="adj" fmla="val 2424"/>
            </a:avLst>
          </a:prstGeom>
          <a:solidFill>
            <a:srgbClr val="3D112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14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26–35 age bracket contributes the highest sales volume — young working professionals are the core festive-shopping audience.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oundRect">
            <a:avLst/>
          </a:prstGeom>
          <a:solidFill>
            <a:srgbClr val="5C1A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States by Sales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revenue is concentrated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092440" cy="5074920"/>
          </a:xfrm>
          <a:prstGeom prst="roundRect">
            <a:avLst>
              <a:gd name="adj" fmla="val 1081"/>
            </a:avLst>
          </a:prstGeom>
          <a:solidFill>
            <a:srgbClr val="FBF6EC"/>
          </a:solidFill>
          <a:ln/>
        </p:spPr>
      </p:sp>
      <p:pic>
        <p:nvPicPr>
          <p:cNvPr id="6" name="Image 0" descr="cell2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43867"/>
            <a:ext cx="7818120" cy="29475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417320"/>
            <a:ext cx="3017520" cy="4800600"/>
          </a:xfrm>
          <a:prstGeom prst="roundRect">
            <a:avLst>
              <a:gd name="adj" fmla="val 2424"/>
            </a:avLst>
          </a:prstGeom>
          <a:solidFill>
            <a:srgbClr val="3D112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14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Pradesh, Maharashtra and Karnataka lead the country in Diwali sales value, marking them as priority regions for inventory and ad spend.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oundRect">
            <a:avLst/>
          </a:prstGeom>
          <a:solidFill>
            <a:srgbClr val="5C1A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Marital Status &amp; Gender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buyer profiles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092440" cy="5074920"/>
          </a:xfrm>
          <a:prstGeom prst="roundRect">
            <a:avLst>
              <a:gd name="adj" fmla="val 1081"/>
            </a:avLst>
          </a:prstGeom>
          <a:solidFill>
            <a:srgbClr val="FBF6EC"/>
          </a:solidFill>
          <a:ln/>
        </p:spPr>
      </p:sp>
      <p:pic>
        <p:nvPicPr>
          <p:cNvPr id="6" name="Image 0" descr="cell2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561" y="1417320"/>
            <a:ext cx="5394278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417320"/>
            <a:ext cx="3017520" cy="4800600"/>
          </a:xfrm>
          <a:prstGeom prst="roundRect">
            <a:avLst>
              <a:gd name="adj" fmla="val 2424"/>
            </a:avLst>
          </a:prstGeom>
          <a:solidFill>
            <a:srgbClr val="3D112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14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women form the single highest-spending combination, ahead of married men and unmarried shoppers of either gender.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oundRect">
            <a:avLst/>
          </a:prstGeom>
          <a:solidFill>
            <a:srgbClr val="5C1A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Occupation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professions shop the most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092440" cy="5074920"/>
          </a:xfrm>
          <a:prstGeom prst="roundRect">
            <a:avLst>
              <a:gd name="adj" fmla="val 1081"/>
            </a:avLst>
          </a:prstGeom>
          <a:solidFill>
            <a:srgbClr val="FBF6EC"/>
          </a:solidFill>
          <a:ln/>
        </p:spPr>
      </p:sp>
      <p:pic>
        <p:nvPicPr>
          <p:cNvPr id="6" name="Image 0" descr="cell2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88710"/>
            <a:ext cx="7818120" cy="22578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417320"/>
            <a:ext cx="3017520" cy="4800600"/>
          </a:xfrm>
          <a:prstGeom prst="roundRect">
            <a:avLst>
              <a:gd name="adj" fmla="val 2424"/>
            </a:avLst>
          </a:prstGeom>
          <a:solidFill>
            <a:srgbClr val="3D112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14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working in IT, Healthcare and Aviation post the highest sales totals — professions with steady festive-season disposable income.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oundRect">
            <a:avLst/>
          </a:prstGeom>
          <a:solidFill>
            <a:srgbClr val="5C1A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festive shoppers buy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092440" cy="5074920"/>
          </a:xfrm>
          <a:prstGeom prst="roundRect">
            <a:avLst>
              <a:gd name="adj" fmla="val 1081"/>
            </a:avLst>
          </a:prstGeom>
          <a:solidFill>
            <a:srgbClr val="FBF6EC"/>
          </a:solidFill>
          <a:ln/>
        </p:spPr>
      </p:sp>
      <p:pic>
        <p:nvPicPr>
          <p:cNvPr id="6" name="Image 0" descr="cell3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88710"/>
            <a:ext cx="7818120" cy="22578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417320"/>
            <a:ext cx="3017520" cy="4800600"/>
          </a:xfrm>
          <a:prstGeom prst="roundRect">
            <a:avLst>
              <a:gd name="adj" fmla="val 2424"/>
            </a:avLst>
          </a:prstGeom>
          <a:solidFill>
            <a:srgbClr val="3D112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14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Clothing &amp; Apparel, and Electronics &amp; Gadgets are the top-selling categories by revenue this festive season.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oundRect">
            <a:avLst/>
          </a:prstGeom>
          <a:solidFill>
            <a:srgbClr val="5C1A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Best-Selling Products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order volume by Product ID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092440" cy="5074920"/>
          </a:xfrm>
          <a:prstGeom prst="roundRect">
            <a:avLst>
              <a:gd name="adj" fmla="val 1081"/>
            </a:avLst>
          </a:prstGeom>
          <a:solidFill>
            <a:srgbClr val="FBF6EC"/>
          </a:solidFill>
          <a:ln/>
        </p:spPr>
      </p:sp>
      <p:pic>
        <p:nvPicPr>
          <p:cNvPr id="6" name="Image 0" descr="cell3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832" y="1417320"/>
            <a:ext cx="7103736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41080" y="1417320"/>
            <a:ext cx="3017520" cy="4800600"/>
          </a:xfrm>
          <a:prstGeom prst="roundRect">
            <a:avLst>
              <a:gd name="adj" fmla="val 2424"/>
            </a:avLst>
          </a:prstGeom>
          <a:solidFill>
            <a:srgbClr val="3D1121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5400" y="2103120"/>
            <a:ext cx="2514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SKUs accounts for a disproportionate share of orders — strong candidates for stock prioritization next season.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10058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5C1A3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Customer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women, aged 26–35, based in Uttar Pradesh, Maharashtra or Karnataka, working in IT, Healthcare or Aviation — and most likely to buy Food, Clothing or Electronics.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3D1121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7033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women, 26–35 yrs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3429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3D1121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37033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· Maharashtra · Karnataka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3429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3D1121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7033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Healthcare · Aviation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34290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3D1121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37033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Clothing · Electronics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Sales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5C1A3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2377440" cy="2377440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notebook, cleaned dataset and charts available on GitHub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Pandas · NumPy · Matplotlib · Seaborn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2026-09-23T11:49:07Z</dcterms:created>
  <dcterms:modified xsi:type="dcterms:W3CDTF">2026-09-23T11:49:07Z</dcterms:modified>
</cp:coreProperties>
</file>